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28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1E15F-1D4C-6353-D852-7FD9FC0A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3456C-8A76-3ACF-FD05-24EE3FBB7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3DB3C-5BE4-1B34-642B-E7011B27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2DC9-5271-4F51-A339-4DFD84C27399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0D84B-7290-9C69-D4BE-42E375AA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4B55-F305-D7D2-F049-646E6C77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6F20-D129-45F3-93F9-96870907F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2B930-26C9-4676-E99C-A41E15FB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AB1C5-2739-AE41-4EB7-2E4EB26D7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9801A-C14C-272D-4C95-29B8C1C8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2DC9-5271-4F51-A339-4DFD84C27399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6FB50-1B34-A279-459A-3434EC214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625D5-3C3B-B69D-B2E7-2757BD4A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6F20-D129-45F3-93F9-96870907F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1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E05FA-C4EC-2956-20B4-107095572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02425-A608-C939-DB78-C310CF5E9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518C5-C533-C052-E2DC-FB2D81D51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2DC9-5271-4F51-A339-4DFD84C27399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33332-6323-A797-14BD-D88C8B85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F5CE6-BF20-6B26-4D2A-C6D4AD600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6F20-D129-45F3-93F9-96870907F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125C-2A69-448D-35E9-1B3CE0C8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1D15C-5391-F314-75DC-8957B697D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58531-B023-0C70-F447-4772D0FFB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2ACE8-F19D-A0FD-EA32-372654807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2DC9-5271-4F51-A339-4DFD84C27399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7CC32-B6E0-7FA7-53B1-A502572C3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F379B-ACAE-80C2-B21F-D97243CC8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6F20-D129-45F3-93F9-96870907F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4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749B-C224-538D-10D0-4BEE95C1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6AC3B-98F3-0298-C33E-F8DCBE2B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EA7C5-6B3B-7CDB-E244-172804D3B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C559BB-B42C-0BE0-7908-A985A2F31E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EF2020-BB34-FB9A-E28D-5EDEF45F9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3DB1AB-7C62-D84A-021D-22D7083F3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2DC9-5271-4F51-A339-4DFD84C27399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B0F2C-C7B7-25C4-5B79-04139767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41B27-8DB3-A0D0-177B-EEB03930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6F20-D129-45F3-93F9-96870907F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6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726B6-AF15-6A56-37CA-E05FBF92D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43A1E0-F806-29BE-A8A0-3FE1DFCF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2DC9-5271-4F51-A339-4DFD84C27399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FC285-19D8-BEF6-6BD6-C807C3B50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42F97-9353-5AF8-69D6-93A62337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6F20-D129-45F3-93F9-96870907F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3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1E0D10-FE39-F4E7-D132-12B4A5807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2DC9-5271-4F51-A339-4DFD84C27399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7181A-44B1-0731-2C95-EDEB78F67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2976C-6840-237D-D540-08C983DC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6F20-D129-45F3-93F9-96870907F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8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AB0A-43C5-4164-A228-44C1FE874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A4F5C-EEB3-4735-2247-B9C724D96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A96BF-57CE-4624-7547-5A3D850E5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04A90-CCB6-30D5-2DA9-A9C0EEC8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2DC9-5271-4F51-A339-4DFD84C27399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0F176-2858-6B9C-B041-CB8D654F6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3D189-53BD-66DE-70B6-260C41A7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6F20-D129-45F3-93F9-96870907F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0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03B2-FC8E-5024-CABF-376DFE989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D6D16-4CB6-BECB-F488-5763BC2292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7C0DF-67D2-922B-0FF3-CD893A2B8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ADF9B-69F9-F836-CE2E-5F71D1ACD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2DC9-5271-4F51-A339-4DFD84C27399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4EAED-87AC-9A16-8DBE-F8CEA20D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47AB8-6739-0A89-8830-B703E7403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6F20-D129-45F3-93F9-96870907F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13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13FD5-8E5B-39F7-F175-6027073A2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E1A7B-1ED2-9F33-C29B-DFF71ABEA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E104A-382E-5523-9A44-4B07F3A6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2DC9-5271-4F51-A339-4DFD84C27399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0FDD9-0445-E563-5096-F4E80845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9AB74-DC23-8751-6F0B-83517A89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6F20-D129-45F3-93F9-96870907F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07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CFFC5-B93A-AE1E-9DA3-78B58CDF8E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1F7B8-9610-08FB-83FF-79F52178B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B7466-1848-61C8-45E0-A180B2F80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2DC9-5271-4F51-A339-4DFD84C27399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63157-3FB1-2921-D157-95C0FB43A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B40C4-54F5-374F-6051-68A1F8F25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6F20-D129-45F3-93F9-96870907F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95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35000" t="91000" r="35000" b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CB46A-7588-0899-FFE7-7947D8659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9C908-A7C6-9EA3-9C11-4C5EBCD41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4DEC1-C127-19B4-2B70-179F2B989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E2DC9-5271-4F51-A339-4DFD84C27399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B1CBE-9917-94C6-5FEF-DC362E8B8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2C87D-A485-4207-518E-2E4895B4D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16F20-D129-45F3-93F9-96870907F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690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0C0B-9E8E-5263-D903-41F32511F5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Hybrid QAOA Portfolio Optimizer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00C23-355B-E191-9BAE-AD4E369BF9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Andry Paez</a:t>
            </a:r>
          </a:p>
          <a:p>
            <a:r>
              <a:rPr lang="en-US" dirty="0" err="1"/>
              <a:t>Womanium</a:t>
            </a:r>
            <a:r>
              <a:rPr lang="en-US" dirty="0"/>
              <a:t> &amp; WISER 2025 Quantum Program</a:t>
            </a:r>
          </a:p>
        </p:txBody>
      </p:sp>
      <p:pic>
        <p:nvPicPr>
          <p:cNvPr id="5" name="Picture 4" descr="A black background with a black letter w&#10;&#10;AI-generated content may be incorrect.">
            <a:extLst>
              <a:ext uri="{FF2B5EF4-FFF2-40B4-BE49-F238E27FC236}">
                <a16:creationId xmlns:a16="http://schemas.microsoft.com/office/drawing/2014/main" id="{215622DE-B398-1F17-0D62-B6E14CF6D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344" y="5349875"/>
            <a:ext cx="1766637" cy="176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7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5221F-5180-0888-16BC-186DC3AE0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516FD-08F2-E507-B338-F54DCA972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Classical tool-chain (GUROBI / CPLEX) struggles</a:t>
            </a:r>
          </a:p>
          <a:p>
            <a:pPr lvl="1"/>
            <a:r>
              <a:rPr lang="en-US" dirty="0"/>
              <a:t>More than 100 constraints, dense quadratic cost</a:t>
            </a:r>
          </a:p>
          <a:p>
            <a:pPr lvl="1"/>
            <a:r>
              <a:rPr lang="en-US" dirty="0"/>
              <a:t>Compute budget; real-time trading loop</a:t>
            </a:r>
          </a:p>
          <a:p>
            <a:r>
              <a:rPr lang="en-US" b="1" dirty="0"/>
              <a:t>Goal</a:t>
            </a:r>
            <a:r>
              <a:rPr lang="en-US" dirty="0"/>
              <a:t>: hit near-optimal solutions </a:t>
            </a:r>
            <a:r>
              <a:rPr lang="en-US" b="1" dirty="0"/>
              <a:t>fast </a:t>
            </a:r>
            <a:r>
              <a:rPr lang="en-US" dirty="0"/>
              <a:t>and </a:t>
            </a:r>
            <a:r>
              <a:rPr lang="en-US" b="1" dirty="0"/>
              <a:t>shallow </a:t>
            </a:r>
            <a:r>
              <a:rPr lang="en-US" dirty="0"/>
              <a:t>enough for NISQ hardware</a:t>
            </a:r>
          </a:p>
          <a:p>
            <a:r>
              <a:rPr lang="en-US" b="1" dirty="0"/>
              <a:t>Business impact</a:t>
            </a:r>
            <a:r>
              <a:rPr lang="en-US" dirty="0"/>
              <a:t>: cheaper hedging, tighter tracking error, richer scenario sampling</a:t>
            </a:r>
            <a:endParaRPr lang="en-US" b="1" dirty="0"/>
          </a:p>
        </p:txBody>
      </p:sp>
      <p:pic>
        <p:nvPicPr>
          <p:cNvPr id="4" name="Picture 3" descr="A black background with a black letter w&#10;&#10;AI-generated content may be incorrect.">
            <a:extLst>
              <a:ext uri="{FF2B5EF4-FFF2-40B4-BE49-F238E27FC236}">
                <a16:creationId xmlns:a16="http://schemas.microsoft.com/office/drawing/2014/main" id="{C1851B3D-FB5B-5E70-880A-4D79CB805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344" y="5349875"/>
            <a:ext cx="1766637" cy="176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48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D1AB-BC52-A456-F61D-07348E19C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798E3-BDAC-8151-9C1F-C1B614109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Replace full-blown MILP with </a:t>
            </a:r>
            <a:r>
              <a:rPr lang="en-US" b="1" dirty="0"/>
              <a:t>binary QUBO black-box</a:t>
            </a:r>
          </a:p>
          <a:p>
            <a:r>
              <a:rPr lang="en-US" dirty="0"/>
              <a:t>Demonstrate </a:t>
            </a:r>
            <a:r>
              <a:rPr lang="en-US" b="1" dirty="0"/>
              <a:t>QAOA (varying p) </a:t>
            </a:r>
            <a:r>
              <a:rPr lang="en-US" dirty="0"/>
              <a:t>on 31 qubits</a:t>
            </a:r>
          </a:p>
          <a:p>
            <a:r>
              <a:rPr lang="en-US" dirty="0"/>
              <a:t>Make use of already implemented bit-flip local search to close residual gap</a:t>
            </a:r>
          </a:p>
          <a:p>
            <a:r>
              <a:rPr lang="en-US" dirty="0"/>
              <a:t>Compare against </a:t>
            </a:r>
            <a:r>
              <a:rPr lang="en-US" b="1" dirty="0"/>
              <a:t>pure CPLEX optimum</a:t>
            </a:r>
            <a:endParaRPr lang="en-US" dirty="0"/>
          </a:p>
        </p:txBody>
      </p:sp>
      <p:pic>
        <p:nvPicPr>
          <p:cNvPr id="4" name="Picture 3" descr="A black background with a black letter w&#10;&#10;AI-generated content may be incorrect.">
            <a:extLst>
              <a:ext uri="{FF2B5EF4-FFF2-40B4-BE49-F238E27FC236}">
                <a16:creationId xmlns:a16="http://schemas.microsoft.com/office/drawing/2014/main" id="{D5E5E5CC-A380-C5F9-CD5E-4792880A2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344" y="5349875"/>
            <a:ext cx="1766637" cy="176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26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ED4D-670A-A5F5-2957-C5792314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A2543-7434-DB50-6973-ED879AC333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Make use of existing code base, build on top of it to support QAOA</a:t>
                </a:r>
              </a:p>
              <a:p>
                <a:pPr lvl="1"/>
                <a:r>
                  <a:rPr lang="en-US" dirty="0"/>
                  <a:t>Step 1: Parse LP &amp; embed linear constraints into penalty objective; 31  </a:t>
                </a:r>
              </a:p>
              <a:p>
                <a:pPr lvl="1"/>
                <a:r>
                  <a:rPr lang="en-US" dirty="0"/>
                  <a:t>Step 2: From objective, build the Ising (problem) Hamiltonian, and instantiate </a:t>
                </a:r>
                <a:r>
                  <a:rPr lang="en-US" dirty="0" err="1"/>
                  <a:t>Qiskit’s</a:t>
                </a:r>
                <a:r>
                  <a:rPr lang="en-US" dirty="0"/>
                  <a:t> </a:t>
                </a:r>
                <a:r>
                  <a:rPr lang="en-US" dirty="0" err="1"/>
                  <a:t>QAOAAnsatz</a:t>
                </a:r>
                <a:r>
                  <a:rPr lang="en-US" dirty="0"/>
                  <a:t> to build QAOA circuit and handle the mixer Hamiltonian</a:t>
                </a:r>
              </a:p>
              <a:p>
                <a:pPr lvl="1"/>
                <a:r>
                  <a:rPr lang="en-US" dirty="0"/>
                  <a:t>Step 3: NFT optimizer over CVaR objective </a:t>
                </a:r>
              </a:p>
              <a:p>
                <a:pPr lvl="1"/>
                <a:r>
                  <a:rPr lang="en-US" dirty="0"/>
                  <a:t>Step 4: Local-search pipeline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lang="en-US" b="0" dirty="0"/>
                  <a:t>evals, 1-bit flips)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A2543-7434-DB50-6973-ED879AC333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black background with a black letter w&#10;&#10;AI-generated content may be incorrect.">
            <a:extLst>
              <a:ext uri="{FF2B5EF4-FFF2-40B4-BE49-F238E27FC236}">
                <a16:creationId xmlns:a16="http://schemas.microsoft.com/office/drawing/2014/main" id="{92FCEAAD-2E8D-E7B1-AC01-151284B6B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344" y="5349875"/>
            <a:ext cx="1766637" cy="176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5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24F7-4664-3D97-3D86-ECBC6D80E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Impact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0CE6B1-4587-34B7-E27C-53D8E87300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7385480"/>
              </p:ext>
            </p:extLst>
          </p:nvPr>
        </p:nvGraphicFramePr>
        <p:xfrm>
          <a:off x="838200" y="1825625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7017056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46883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470508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409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 (median of 100 runs)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QAOA (p=3) pre-LS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QAOA (p=3) post-LS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117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Median Objective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5.6180 %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0.0186 %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49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2-Qubit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302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Runs hitting optimum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265425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letter w&#10;&#10;AI-generated content may be incorrect.">
            <a:extLst>
              <a:ext uri="{FF2B5EF4-FFF2-40B4-BE49-F238E27FC236}">
                <a16:creationId xmlns:a16="http://schemas.microsoft.com/office/drawing/2014/main" id="{64C2B6DE-5C6F-0F2A-6692-2DB17962B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344" y="5349875"/>
            <a:ext cx="1766637" cy="176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5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2DA84-C11A-F357-0380-F90FBFF68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E69E-09F6-49CF-2E47-4FC28E209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Impact</a:t>
            </a:r>
          </a:p>
        </p:txBody>
      </p:sp>
      <p:pic>
        <p:nvPicPr>
          <p:cNvPr id="4" name="Picture 3" descr="A black background with a black letter w&#10;&#10;AI-generated content may be incorrect.">
            <a:extLst>
              <a:ext uri="{FF2B5EF4-FFF2-40B4-BE49-F238E27FC236}">
                <a16:creationId xmlns:a16="http://schemas.microsoft.com/office/drawing/2014/main" id="{1ADF5B4E-E7CA-B237-3B51-E1CAAC350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344" y="5349875"/>
            <a:ext cx="1766637" cy="1766637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961711A-D94A-FE74-A52A-F719AD644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9936" y="2148840"/>
            <a:ext cx="3437141" cy="2560320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D0DE33-D9A8-7805-232B-0DB2641CD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429" y="2148840"/>
            <a:ext cx="3437142" cy="25603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A335C7-7788-5135-AB2F-6D72C3B50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922" y="2148840"/>
            <a:ext cx="3437142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82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3BBDF-DF32-E4AC-0577-272A642B1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C5B3B-B48B-A6C0-5C5E-EFB77C9B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Impact</a:t>
            </a:r>
          </a:p>
        </p:txBody>
      </p:sp>
      <p:pic>
        <p:nvPicPr>
          <p:cNvPr id="4" name="Picture 3" descr="A black background with a black letter w&#10;&#10;AI-generated content may be incorrect.">
            <a:extLst>
              <a:ext uri="{FF2B5EF4-FFF2-40B4-BE49-F238E27FC236}">
                <a16:creationId xmlns:a16="http://schemas.microsoft.com/office/drawing/2014/main" id="{C67D8586-6F72-0AEC-202D-1BF970A20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344" y="5349875"/>
            <a:ext cx="1766637" cy="176663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984C0-EA75-4A8E-68FD-ED00D97E0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Practical: </a:t>
            </a:r>
            <a:r>
              <a:rPr lang="en-US" dirty="0"/>
              <a:t>Shows </a:t>
            </a:r>
            <a:r>
              <a:rPr lang="en-US" b="1" dirty="0"/>
              <a:t>production-sized </a:t>
            </a:r>
            <a:r>
              <a:rPr lang="en-US" dirty="0"/>
              <a:t>bond basket can be solve on NISQ depths</a:t>
            </a:r>
          </a:p>
          <a:p>
            <a:r>
              <a:rPr lang="en-US" b="1" dirty="0"/>
              <a:t>Technical: </a:t>
            </a:r>
            <a:r>
              <a:rPr lang="en-US" dirty="0"/>
              <a:t>minimal-touch integration of </a:t>
            </a:r>
            <a:r>
              <a:rPr lang="en-US" dirty="0" err="1"/>
              <a:t>Qiskit</a:t>
            </a:r>
            <a:r>
              <a:rPr lang="en-US" dirty="0"/>
              <a:t> patterns into legacy code</a:t>
            </a:r>
          </a:p>
          <a:p>
            <a:r>
              <a:rPr lang="en-US" b="1" dirty="0"/>
              <a:t>Open-source add-ons: </a:t>
            </a:r>
            <a:r>
              <a:rPr lang="en-US" dirty="0"/>
              <a:t>Poetry env, CLI wrappers, QAOA handlers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44673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AE01C-1BE3-31F6-132F-6BF10829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31383-2F5E-F48C-E7D8-0F4030121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Automated </a:t>
            </a:r>
            <a:r>
              <a:rPr lang="en-US" b="1" dirty="0"/>
              <a:t>depth-vs-gap sweeps</a:t>
            </a:r>
            <a:r>
              <a:rPr lang="en-US" dirty="0"/>
              <a:t> (p = 1 … 6) under realistic hardware noise</a:t>
            </a:r>
          </a:p>
          <a:p>
            <a:r>
              <a:rPr lang="en-US" dirty="0"/>
              <a:t>Swap bit-flip LS for </a:t>
            </a:r>
            <a:r>
              <a:rPr lang="en-US" b="1" dirty="0"/>
              <a:t>ILP bootstrapped Tabu</a:t>
            </a:r>
            <a:r>
              <a:rPr lang="en-US" dirty="0"/>
              <a:t> to speed post-processing</a:t>
            </a:r>
          </a:p>
          <a:p>
            <a:r>
              <a:rPr lang="en-US" dirty="0"/>
              <a:t>Integrate </a:t>
            </a:r>
            <a:r>
              <a:rPr lang="en-US" b="1" dirty="0"/>
              <a:t>AI </a:t>
            </a:r>
            <a:r>
              <a:rPr lang="en-US" b="1" dirty="0" err="1"/>
              <a:t>transpiler</a:t>
            </a:r>
            <a:r>
              <a:rPr lang="en-US" dirty="0"/>
              <a:t> passes for further depth-cuts</a:t>
            </a:r>
          </a:p>
          <a:p>
            <a:r>
              <a:rPr lang="en-US" dirty="0"/>
              <a:t>Extend benchmark to </a:t>
            </a:r>
            <a:r>
              <a:rPr lang="en-US" b="1" dirty="0"/>
              <a:t>multi-period</a:t>
            </a:r>
            <a:r>
              <a:rPr lang="en-US" dirty="0"/>
              <a:t> &amp; </a:t>
            </a:r>
            <a:r>
              <a:rPr lang="en-US" b="1" dirty="0"/>
              <a:t>factor risk</a:t>
            </a:r>
            <a:r>
              <a:rPr lang="en-US" dirty="0"/>
              <a:t> constraints</a:t>
            </a:r>
          </a:p>
        </p:txBody>
      </p:sp>
      <p:pic>
        <p:nvPicPr>
          <p:cNvPr id="4" name="Picture 3" descr="A black background with a black letter w&#10;&#10;AI-generated content may be incorrect.">
            <a:extLst>
              <a:ext uri="{FF2B5EF4-FFF2-40B4-BE49-F238E27FC236}">
                <a16:creationId xmlns:a16="http://schemas.microsoft.com/office/drawing/2014/main" id="{F5415991-3CFB-7469-D8C1-DF18CDC96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344" y="5349875"/>
            <a:ext cx="1766637" cy="176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78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B683D-7A4E-A1D0-AA6A-0E7A845D9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977DE-C7F1-13AB-D22A-1F0ECF24FF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black background with a black letter w&#10;&#10;AI-generated content may be incorrect.">
            <a:extLst>
              <a:ext uri="{FF2B5EF4-FFF2-40B4-BE49-F238E27FC236}">
                <a16:creationId xmlns:a16="http://schemas.microsoft.com/office/drawing/2014/main" id="{F981A2EE-90F3-2A94-3625-C9BB247BB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344" y="5349875"/>
            <a:ext cx="1766637" cy="176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60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304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Hybrid QAOA Portfolio Optimizer</vt:lpstr>
      <vt:lpstr>Problem statement</vt:lpstr>
      <vt:lpstr>Solution</vt:lpstr>
      <vt:lpstr>Methods</vt:lpstr>
      <vt:lpstr>Results and Impact</vt:lpstr>
      <vt:lpstr>Results and Impact</vt:lpstr>
      <vt:lpstr>Results and Impact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Andry Lloyd Badar Paez</dc:creator>
  <cp:lastModifiedBy>Andry Lloyd Badar Paez</cp:lastModifiedBy>
  <cp:revision>1</cp:revision>
  <dcterms:created xsi:type="dcterms:W3CDTF">2025-08-11T03:52:00Z</dcterms:created>
  <dcterms:modified xsi:type="dcterms:W3CDTF">2025-08-11T04:47:13Z</dcterms:modified>
</cp:coreProperties>
</file>